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4630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2F4F6"/>
                </a:solidFill>
                <a:latin typeface="Arial"/>
              </a:rPr>
              <a:t>BlockLedger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9AA4B0"/>
                </a:solidFill>
                <a:latin typeface="Arial"/>
              </a:rPr>
              <a:t>Blockchain-Based Secure Platform for Identity,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AA4B0"/>
                </a:solidFill>
                <a:latin typeface="Arial"/>
              </a:rPr>
              <a:t>Access Control and Digital Asset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PS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1655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26125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3977639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160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ORGANISATION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41655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Bharat Electronics Limited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1655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977639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1655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Blockchain &amp; 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Team Mercury  ·  Netaji Subhas University of 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96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Harsh (Lead)  ·  Anushka  ·  Sanyyam  ·  Prakhar  ·  Zoya  ·  Shauryan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Centralised registers cannot prove their own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12070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AE3B5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167128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Single point of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532888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One compromised directory administrator can mint, escalate or delete any identity. There is no independent record, because the same administrator controls the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55848"/>
            <a:ext cx="10515600" cy="12070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3016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AE3B5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55701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Identity theft and impersonation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922776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Credentials are bearer secrets held centrally. Whoever obtains the store obtains every identity in it. Employees hold no portable, provable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45736"/>
            <a:ext cx="10515600" cy="12070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200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AE3B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946904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Unverifiable asset provenance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312664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A drawing, firmware image or certificate can be modified after approval, and a downstream consumer has no cryptographic way to prove which bytes were approved.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9F45"/>
                </a:solidFill>
                <a:latin typeface="Arial"/>
              </a:rPr>
              <a:t>Net effect: an auditor cannot independently prove that a log has not been altered after the fact.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Replace the trusted record with cryptographic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4983480" cy="187451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313432"/>
            <a:ext cx="50292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9631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Decentralised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9864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Every actor is a DID — did:blkl:sol:&lt;pubkey&gt; — with a W3C DID Document controlled by a keypair, not a directory row. Pinned to IPFS, so it is content-addressed.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65960"/>
            <a:ext cx="4983480" cy="187451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2313432"/>
            <a:ext cx="50292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9631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NFT-based asset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9864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Every asset is a token (BLKL-000123) whose metadata commits to a SHA-256 digest of the file. Change one byte and the digest no longer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4983480" cy="187451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462272"/>
            <a:ext cx="50292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451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Contract-enforced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04748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Privileged actions pass a permission check that reverts with an explicit reason. A caller cannot bypass a check by ignoring a return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114800"/>
            <a:ext cx="4983480" cy="187451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462272"/>
            <a:ext cx="50292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6451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2F4F6"/>
                </a:solidFill>
                <a:latin typeface="Arial"/>
              </a:rPr>
              <a:t>Tamper-evident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04748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Each entry commits to the hash of its predecessor, so retroactive edits are detectable in a single pass — and anchored to Solana devnet.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How a request flows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6766560" cy="713232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E3B5"/>
                </a:solidFill>
                <a:latin typeface="Arial"/>
              </a:rPr>
              <a:t>User + Solana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13432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Phantom / Solflare</a:t>
            </a:r>
          </a:p>
        </p:txBody>
      </p:sp>
      <p:sp>
        <p:nvSpPr>
          <p:cNvPr id="9" name="Document 8"/>
          <p:cNvSpPr/>
          <p:nvPr/>
        </p:nvSpPr>
        <p:spPr>
          <a:xfrm>
            <a:off x="4069080" y="2642616"/>
            <a:ext cx="274320" cy="137160"/>
          </a:xfrm>
          <a:prstGeom prst="flowChartDocument">
            <a:avLst/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779776"/>
            <a:ext cx="6766560" cy="713232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9864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F4F6"/>
                </a:solidFill>
                <a:latin typeface="Arial"/>
              </a:rPr>
              <a:t>Next.js Frontend — App Router, 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72968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dashboard · identity · assets · access-control · audit · wallet</a:t>
            </a:r>
          </a:p>
        </p:txBody>
      </p:sp>
      <p:sp>
        <p:nvSpPr>
          <p:cNvPr id="13" name="Document 12"/>
          <p:cNvSpPr/>
          <p:nvPr/>
        </p:nvSpPr>
        <p:spPr>
          <a:xfrm>
            <a:off x="4069080" y="3502152"/>
            <a:ext cx="274320" cy="137160"/>
          </a:xfrm>
          <a:prstGeom prst="flowChartDocument">
            <a:avLst/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639312"/>
            <a:ext cx="6766560" cy="713232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58184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F4F6"/>
                </a:solidFill>
                <a:latin typeface="Arial"/>
              </a:rPr>
              <a:t>Context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3250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Auth · Chain · Ledger · Storage</a:t>
            </a:r>
          </a:p>
        </p:txBody>
      </p:sp>
      <p:sp>
        <p:nvSpPr>
          <p:cNvPr id="17" name="Document 16"/>
          <p:cNvSpPr/>
          <p:nvPr/>
        </p:nvSpPr>
        <p:spPr>
          <a:xfrm>
            <a:off x="4069080" y="4361688"/>
            <a:ext cx="274320" cy="137160"/>
          </a:xfrm>
          <a:prstGeom prst="flowChartDocument">
            <a:avLst/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6766560" cy="713232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F4F6"/>
                </a:solidFill>
                <a:latin typeface="Arial"/>
              </a:rPr>
              <a:t>Contract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92040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AccessControl · IdentityRegistry · AssetNFT  —  revert on failure</a:t>
            </a:r>
          </a:p>
        </p:txBody>
      </p:sp>
      <p:sp>
        <p:nvSpPr>
          <p:cNvPr id="21" name="Document 20"/>
          <p:cNvSpPr/>
          <p:nvPr/>
        </p:nvSpPr>
        <p:spPr>
          <a:xfrm>
            <a:off x="4069080" y="5221224"/>
            <a:ext cx="274320" cy="137160"/>
          </a:xfrm>
          <a:prstGeom prst="flowChartDocument">
            <a:avLst/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358384"/>
            <a:ext cx="6766560" cy="713232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7725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F4F6"/>
                </a:solidFill>
                <a:latin typeface="Arial"/>
              </a:rPr>
              <a:t>Blockchain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751576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DID derivation · SHA-256 hash chaining · append-only ledger + verifier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92024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48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IPFS  ·  PINATA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487168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DID Documents and NFT metadata pinned to real, content-addressed CIDs.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8404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690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SOLANA DEVNET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Audit entries anchored as real signed memo transactions, linked to an explorer.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A log that proves it has not been edited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E3B5"/>
                </a:solidFill>
                <a:latin typeface="Consolas"/>
              </a:rPr>
              <a:t>entry[n].hash  =  SHA-256(  entry[n].payload  ||  entry[n-1].hash 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ENTRY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Consolas"/>
              </a:rPr>
              <a:t>0x9f3a1c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3063240"/>
            <a:ext cx="347472" cy="128016"/>
          </a:xfrm>
          <a:prstGeom prst="rightArrow">
            <a:avLst/>
          </a:prstGeom>
          <a:solidFill>
            <a:srgbClr val="556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260604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ENTRY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Consolas"/>
              </a:rPr>
              <a:t>0x4b8e07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90288" y="3063240"/>
            <a:ext cx="347472" cy="128016"/>
          </a:xfrm>
          <a:prstGeom prst="rightArrow">
            <a:avLst/>
          </a:prstGeom>
          <a:solidFill>
            <a:srgbClr val="556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260604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ENTRY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Consolas"/>
              </a:rPr>
              <a:t>0xc21df5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47688" y="3063240"/>
            <a:ext cx="347472" cy="128016"/>
          </a:xfrm>
          <a:prstGeom prst="rightArrow">
            <a:avLst/>
          </a:prstGeom>
          <a:solidFill>
            <a:srgbClr val="556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260604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FF9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9F45"/>
                </a:solidFill>
                <a:latin typeface="Arial"/>
              </a:rPr>
              <a:t>ENTRY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F45"/>
                </a:solidFill>
                <a:latin typeface="Consolas"/>
              </a:rPr>
              <a:t>TAMPERED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05088" y="3063240"/>
            <a:ext cx="347472" cy="128016"/>
          </a:xfrm>
          <a:prstGeom prst="rightArrow">
            <a:avLst/>
          </a:prstGeom>
          <a:solidFill>
            <a:srgbClr val="FF9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260604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4B0"/>
                </a:solidFill>
                <a:latin typeface="Arial"/>
              </a:rPr>
              <a:t>ENTRY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Consolas"/>
              </a:rPr>
              <a:t>0x1e94d2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9F45"/>
                </a:solidFill>
                <a:latin typeface="Consolas"/>
              </a:rPr>
              <a:t>verifyChain()  →  { valid: false, brokenAt: 3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F4F6"/>
                </a:solidFill>
                <a:latin typeface="Arial"/>
              </a:rPr>
              <a:t>Four classes of tampering are detected, each reporting the exact broken index: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56048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Field mutation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4956048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51206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Entry reordering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56048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06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Entry deletion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4956048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51206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2F4F6"/>
                </a:solidFill>
                <a:latin typeface="Arial"/>
              </a:rPr>
              <a:t>Actor forgery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All four are demonstrated live in the prototype.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What the prototype does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Register, resolve, revoke and reactivate DIDs with W3C DID Documents pinned to IPFS.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965960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3168" y="2286000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468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8346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Four roles mapped through an explicit permission matrix, enforced in UI and contract layer alike.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965960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49056" y="2286000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468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Real reverts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346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Unauthorised calls fail loudly with Solidity-style errors, surfaced directly to the user.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4297679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5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Digital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19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Mint DID-bound NFTs with content digests, IPFS metadata and full transfer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977639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73168" y="4297679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48055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846319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Hash-chained, append-only log with one-click verification and export.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3977639"/>
            <a:ext cx="3154680" cy="173736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49056" y="4297679"/>
            <a:ext cx="41148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448055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4F6"/>
                </a:solidFill>
                <a:latin typeface="Arial"/>
              </a:rPr>
              <a:t>On-chain anchor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846319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Signed Solana devnet memo transactions, verifiable in a public block explorer.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Built on proven, open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FRONTEND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76148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9748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Next.js 15 — App Router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200400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136392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React 19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639312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3575304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TypeScript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078224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9032" y="4014216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Tailwind CSS v4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4517136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4453128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shadcn/ui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495604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489204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Framer 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96596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BLOCKCHAIN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276148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46904" y="269748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Solana — devnet</a:t>
            </a:r>
          </a:p>
        </p:txBody>
      </p:sp>
      <p:sp>
        <p:nvSpPr>
          <p:cNvPr id="24" name="Oval 23"/>
          <p:cNvSpPr/>
          <p:nvPr/>
        </p:nvSpPr>
        <p:spPr>
          <a:xfrm>
            <a:off x="4690872" y="3200400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6904" y="3136392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@solana/web3.js</a:t>
            </a:r>
          </a:p>
        </p:txBody>
      </p:sp>
      <p:sp>
        <p:nvSpPr>
          <p:cNvPr id="26" name="Oval 25"/>
          <p:cNvSpPr/>
          <p:nvPr/>
        </p:nvSpPr>
        <p:spPr>
          <a:xfrm>
            <a:off x="4690872" y="3639312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3575304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Wallet Adapter</a:t>
            </a:r>
          </a:p>
        </p:txBody>
      </p:sp>
      <p:sp>
        <p:nvSpPr>
          <p:cNvPr id="28" name="Oval 27"/>
          <p:cNvSpPr/>
          <p:nvPr/>
        </p:nvSpPr>
        <p:spPr>
          <a:xfrm>
            <a:off x="4690872" y="4078224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6904" y="4014216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W3C DID</a:t>
            </a:r>
          </a:p>
        </p:txBody>
      </p:sp>
      <p:sp>
        <p:nvSpPr>
          <p:cNvPr id="30" name="Oval 29"/>
          <p:cNvSpPr/>
          <p:nvPr/>
        </p:nvSpPr>
        <p:spPr>
          <a:xfrm>
            <a:off x="4690872" y="4517136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46904" y="4453128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SHA-256 hash chaining</a:t>
            </a:r>
          </a:p>
        </p:txBody>
      </p:sp>
      <p:sp>
        <p:nvSpPr>
          <p:cNvPr id="32" name="Oval 31"/>
          <p:cNvSpPr/>
          <p:nvPr/>
        </p:nvSpPr>
        <p:spPr>
          <a:xfrm>
            <a:off x="4690872" y="495604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6904" y="489204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Web Crypto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18704" y="196596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STORAGE &amp; DEPLOY</a:t>
            </a:r>
          </a:p>
        </p:txBody>
      </p:sp>
      <p:sp>
        <p:nvSpPr>
          <p:cNvPr id="36" name="Oval 35"/>
          <p:cNvSpPr/>
          <p:nvPr/>
        </p:nvSpPr>
        <p:spPr>
          <a:xfrm>
            <a:off x="8238744" y="276148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4776" y="269748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IPFS</a:t>
            </a:r>
          </a:p>
        </p:txBody>
      </p:sp>
      <p:sp>
        <p:nvSpPr>
          <p:cNvPr id="38" name="Oval 37"/>
          <p:cNvSpPr/>
          <p:nvPr/>
        </p:nvSpPr>
        <p:spPr>
          <a:xfrm>
            <a:off x="8238744" y="3200400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4776" y="3136392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Pinata pinning</a:t>
            </a:r>
          </a:p>
        </p:txBody>
      </p:sp>
      <p:sp>
        <p:nvSpPr>
          <p:cNvPr id="40" name="Oval 39"/>
          <p:cNvSpPr/>
          <p:nvPr/>
        </p:nvSpPr>
        <p:spPr>
          <a:xfrm>
            <a:off x="8238744" y="3639312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4776" y="3575304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Content-addressed CIDs</a:t>
            </a:r>
          </a:p>
        </p:txBody>
      </p:sp>
      <p:sp>
        <p:nvSpPr>
          <p:cNvPr id="42" name="Oval 41"/>
          <p:cNvSpPr/>
          <p:nvPr/>
        </p:nvSpPr>
        <p:spPr>
          <a:xfrm>
            <a:off x="8238744" y="4078224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4014216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Vercel</a:t>
            </a:r>
          </a:p>
        </p:txBody>
      </p:sp>
      <p:sp>
        <p:nvSpPr>
          <p:cNvPr id="44" name="Oval 43"/>
          <p:cNvSpPr/>
          <p:nvPr/>
        </p:nvSpPr>
        <p:spPr>
          <a:xfrm>
            <a:off x="8238744" y="4517136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4453128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npm</a:t>
            </a:r>
          </a:p>
        </p:txBody>
      </p:sp>
      <p:sp>
        <p:nvSpPr>
          <p:cNvPr id="46" name="Oval 45"/>
          <p:cNvSpPr/>
          <p:nvPr/>
        </p:nvSpPr>
        <p:spPr>
          <a:xfrm>
            <a:off x="8238744" y="495604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94776" y="4892040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Zero contract 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SCOPE AND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What is real, and what is simulated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4B0"/>
                </a:solidFill>
                <a:latin typeface="Arial"/>
              </a:rPr>
              <a:t>We state this explicitly rather than overclaim. Nothing in the demo is fabricated.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E3B5"/>
                </a:solidFill>
                <a:latin typeface="Arial"/>
              </a:rPr>
              <a:t>REAL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1729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31089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Solana devnet wallet connection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6301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35661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Signed memo transactions anchoring audit entries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40873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40233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IPFS pinning via Pinata — genuine CIDs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5445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44805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DID derivation and W3C DID Documents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50017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9032" y="49377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Hash chaining and chain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7744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517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F45"/>
                </a:solidFill>
                <a:latin typeface="Arial"/>
              </a:rPr>
              <a:t>SIMULATED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172968"/>
            <a:ext cx="100584" cy="100584"/>
          </a:xfrm>
          <a:prstGeom prst="ellipse">
            <a:avLst/>
          </a:prstGeom>
          <a:solidFill>
            <a:srgbClr val="FF9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3108960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Contract layer written in TypeScript, not deployed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739896"/>
            <a:ext cx="100584" cy="100584"/>
          </a:xfrm>
          <a:prstGeom prst="ellipse">
            <a:avLst/>
          </a:prstGeom>
          <a:solidFill>
            <a:srgbClr val="FF9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3675888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Enforcement logic and error semantics mirror an on-chain program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4306824"/>
            <a:ext cx="100584" cy="100584"/>
          </a:xfrm>
          <a:prstGeom prst="ellipse">
            <a:avLst/>
          </a:prstGeom>
          <a:solidFill>
            <a:srgbClr val="FF9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4242816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Demo authentication uses seeded credentials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873752"/>
            <a:ext cx="100584" cy="100584"/>
          </a:xfrm>
          <a:prstGeom prst="ellipse">
            <a:avLst/>
          </a:prstGeom>
          <a:solidFill>
            <a:srgbClr val="FF9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4809744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Chosen so the prototype runs with zero deployment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F4F6"/>
                </a:solidFill>
                <a:latin typeface="Arial"/>
              </a:rPr>
              <a:t>Every record carries anchorMode: "onchain" | "simulated" and is badged truthfully in the UI. No signature or CID is ever fabricated.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Five steps a reviewer can reproduce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57984"/>
            <a:ext cx="365760" cy="365760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0D1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1226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ADMIN registers an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488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/identity — a DID is issued and its DID Document is pinned to IPFS.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026664"/>
            <a:ext cx="365760" cy="365760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0D1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809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MANAGER mints a digital asset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01752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/assets — metadata pinned, token bound to an owner DID, digest recorded.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895344"/>
            <a:ext cx="365760" cy="365760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0D1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4962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AUDITOR is denied a role grant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8862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/access-control — a real contract revert is raised and surfaced.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764024"/>
            <a:ext cx="365760" cy="365760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0D10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183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Chain is verified, then tampered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7548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/audit — the verifier reports the exact index at which the chain breaks.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5632704"/>
            <a:ext cx="365760" cy="365760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0D10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8698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Entry is anchored on-chain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62356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4B0"/>
                </a:solidFill>
                <a:latin typeface="Arial"/>
              </a:rPr>
              <a:t>/wallet — a signed devnet memo transaction, viewable in a block explorer.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IMPACT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4F6"/>
                </a:solidFill>
                <a:latin typeface="Arial"/>
              </a:rPr>
              <a:t>From prototype to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IMPACT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Removes the administrator as a single point of trust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26080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62072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Gives auditors mathematical proof of log integrity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456432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392424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Makes asset provenance verifiable by any party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986784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922776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Portable identity that survives directory migration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17136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53128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Independent verification without vendor cooperation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1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FUTURE SCOPE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39572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33172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Deploy the contract layer as Solana programs via Anchor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89864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83464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Wallet-native, signature-based authentication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340156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33756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Verifiable Credentials for cross-organisation attestation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90448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84048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Hardware wallet and HSM-backed keys for ADMIN accounts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440740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34340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Merkle-root batch anchoring to cut cost at scale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4910328"/>
            <a:ext cx="100584" cy="100584"/>
          </a:xfrm>
          <a:prstGeom prst="ellipse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846320"/>
            <a:ext cx="47731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4B0"/>
                </a:solidFill>
                <a:latin typeface="Arial"/>
              </a:rPr>
              <a:t>Phased LDAP / Active Directory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BlockLedger  ·  Team Mercury  ·  SIH 2026  ·  PS 26125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327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4B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0" cy="38100"/>
          </a:xfrm>
          <a:prstGeom prst="rect">
            <a:avLst/>
          </a:prstGeom>
          <a:solidFill>
            <a:srgbClr val="4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2F4F6"/>
                </a:solidFill>
                <a:latin typeface="Arial"/>
              </a:rPr>
              <a:t>BlockLedger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AA4B0"/>
                </a:solidFill>
                <a:latin typeface="Arial"/>
              </a:rPr>
              <a:t>Identity you own. Access you can prove. Assets you can trace.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 w="12700"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5537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E3B5"/>
                </a:solidFill>
                <a:latin typeface="Arial"/>
              </a:rPr>
              <a:t>TEAM MERCURY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6460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4F6"/>
                </a:solidFill>
                <a:latin typeface="Arial"/>
              </a:rPr>
              <a:t>Harsh (Team Leader)  ·  Anushka  ·  Sanyyam  ·  Prakhar  ·  Zoya  ·  Shauryan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7550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4B0"/>
                </a:solidFill>
                <a:latin typeface="Arial"/>
              </a:rPr>
              <a:t>Netaji Subhas University of Technology  ·  SIH 2026  ·  PS 26125  ·  Bharat Electronics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E3B5"/>
                </a:solidFill>
                <a:latin typeface="Arial"/>
              </a:rPr>
              <a:t>github.com/hxrshxz/BlockLedger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