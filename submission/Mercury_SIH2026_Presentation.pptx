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508760"/>
            <a:ext cx="1463040" cy="38100"/>
          </a:xfrm>
          <a:prstGeom prst="rect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E3B5"/>
                </a:solidFill>
                <a:latin typeface="Arial"/>
              </a:rPr>
              <a:t>SMART INDIA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F2F4F6"/>
                </a:solidFill>
                <a:latin typeface="Arial"/>
              </a:rPr>
              <a:t>BlockLedger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61488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9AA4B0"/>
                </a:solidFill>
                <a:latin typeface="Arial"/>
              </a:rPr>
              <a:t>Blockchain-Based Secure Platform for Identity,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9AA4B0"/>
                </a:solidFill>
                <a:latin typeface="Arial"/>
              </a:rPr>
              <a:t>Access Control and Digital Asset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977639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16052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AA4B0"/>
                </a:solidFill>
                <a:latin typeface="Arial"/>
              </a:rPr>
              <a:t>PS 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416552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2F4F6"/>
                </a:solidFill>
                <a:latin typeface="Arial"/>
              </a:rPr>
              <a:t>26125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3977639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416052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AA4B0"/>
                </a:solidFill>
                <a:latin typeface="Arial"/>
              </a:rPr>
              <a:t>ORGANISATION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4416552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2F4F6"/>
                </a:solidFill>
                <a:latin typeface="Arial"/>
              </a:rPr>
              <a:t>Bharat Electronics Limited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77639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16052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AA4B0"/>
                </a:solidFill>
                <a:latin typeface="Arial"/>
              </a:rPr>
              <a:t>CATEGORY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416552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2F4F6"/>
                </a:solidFill>
                <a:latin typeface="Arial"/>
              </a:rPr>
              <a:t>Software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3977639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416052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AA4B0"/>
                </a:solidFill>
                <a:latin typeface="Arial"/>
              </a:rPr>
              <a:t>THEME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416552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2F4F6"/>
                </a:solidFill>
                <a:latin typeface="Arial"/>
              </a:rPr>
              <a:t>Blockchain &amp; Cybersecurity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257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2F4F6"/>
                </a:solidFill>
                <a:latin typeface="Arial"/>
              </a:rPr>
              <a:t>Team Mercury  ·  Netaji Subhas University of Technology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5961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Harsh (Lead)  ·  Anushka  ·  Sanyyam  ·  Prakhar  ·  Zoya  ·  Shauryan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E3B5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2F4F6"/>
                </a:solidFill>
                <a:latin typeface="Arial"/>
              </a:rPr>
              <a:t>Centralised registers cannot prove their own integrity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05840" cy="38100"/>
          </a:xfrm>
          <a:prstGeom prst="rect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10515600" cy="1207008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402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AE3B5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167128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2F4F6"/>
                </a:solidFill>
                <a:latin typeface="Arial"/>
              </a:rPr>
              <a:t>Single point of 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2532888"/>
            <a:ext cx="9052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One compromised directory administrator can mint, escalate or delete any identity. There is no independent record, because the same administrator controls the log.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55848"/>
            <a:ext cx="10515600" cy="1207008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630168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AE3B5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355701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2F4F6"/>
                </a:solidFill>
                <a:latin typeface="Arial"/>
              </a:rPr>
              <a:t>Identity theft and impersonation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3922776"/>
            <a:ext cx="9052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Credentials are bearer secrets held centrally. Whoever obtains the store obtains every identity in it. Employees hold no portable, provable identity.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745736"/>
            <a:ext cx="10515600" cy="1207008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502005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AE3B5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946904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2F4F6"/>
                </a:solidFill>
                <a:latin typeface="Arial"/>
              </a:rPr>
              <a:t>Unverifiable asset provenance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312664"/>
            <a:ext cx="9052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A drawing, firmware image or certificate can be modified after approval, and a downstream consumer has no cryptographic way to prove which bytes were approved.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9F45"/>
                </a:solidFill>
                <a:latin typeface="Arial"/>
              </a:rPr>
              <a:t>Net effect: an auditor cannot independently prove that a log has not been altered after the fact.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BlockLedger  ·  Team Mercury  ·  SIH 2026  ·  PS 26125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32764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E3B5"/>
                </a:solidFill>
                <a:latin typeface="Arial"/>
              </a:rP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2F4F6"/>
                </a:solidFill>
                <a:latin typeface="Arial"/>
              </a:rPr>
              <a:t>Replace the trusted record with cryptographic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05840" cy="38100"/>
          </a:xfrm>
          <a:prstGeom prst="rect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4983480" cy="1874519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313432"/>
            <a:ext cx="502920" cy="38100"/>
          </a:xfrm>
          <a:prstGeom prst="rect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49631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2F4F6"/>
                </a:solidFill>
                <a:latin typeface="Arial"/>
              </a:rPr>
              <a:t>Decentralised identity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898648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Every actor is a DID — did:blkl:sol:&lt;pubkey&gt; — with a W3C DID Document controlled by a keypair, not a directory row. Pinned to IPFS, so it is content-addressed.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965960"/>
            <a:ext cx="4983480" cy="1874519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75120" y="2313432"/>
            <a:ext cx="502920" cy="38100"/>
          </a:xfrm>
          <a:prstGeom prst="rect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49631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2F4F6"/>
                </a:solidFill>
                <a:latin typeface="Arial"/>
              </a:rPr>
              <a:t>NFT-based asset ownership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898648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Every asset is a token (BLKL-000123) whose metadata commits to a SHA-256 digest of the file. Change one byte and the digest no longer matches.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14800"/>
            <a:ext cx="4983480" cy="1874519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4462272"/>
            <a:ext cx="502920" cy="38100"/>
          </a:xfrm>
          <a:prstGeom prst="rect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64515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2F4F6"/>
                </a:solidFill>
                <a:latin typeface="Arial"/>
              </a:rPr>
              <a:t>Contract-enforced access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047488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Privileged actions pass a permission check that reverts with an explicit reason. A caller cannot bypass a check by ignoring a return value.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114800"/>
            <a:ext cx="4983480" cy="1874519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75120" y="4462272"/>
            <a:ext cx="502920" cy="38100"/>
          </a:xfrm>
          <a:prstGeom prst="rect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64515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2F4F6"/>
                </a:solidFill>
                <a:latin typeface="Arial"/>
              </a:rPr>
              <a:t>Tamper-evident audit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5047488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Each entry commits to the hash of its predecessor, so retroactive edits are detectable in a single pass — and anchored to Solana devnet.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BlockLedger  ·  Team Mercury  ·  SIH 2026  ·  PS 26125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632764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E3B5"/>
                </a:solidFill>
                <a:latin typeface="Arial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2F4F6"/>
                </a:solidFill>
                <a:latin typeface="Arial"/>
              </a:rPr>
              <a:t>How a request flows through the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05840" cy="38100"/>
          </a:xfrm>
          <a:prstGeom prst="rect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6766560" cy="713232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039112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E3B5"/>
                </a:solidFill>
                <a:latin typeface="Arial"/>
              </a:rPr>
              <a:t>User + Solana Wallet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313432"/>
            <a:ext cx="6309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Phantom / Solflare</a:t>
            </a:r>
          </a:p>
        </p:txBody>
      </p:sp>
      <p:sp>
        <p:nvSpPr>
          <p:cNvPr id="9" name="Document 8"/>
          <p:cNvSpPr/>
          <p:nvPr/>
        </p:nvSpPr>
        <p:spPr>
          <a:xfrm>
            <a:off x="4069080" y="2642616"/>
            <a:ext cx="274320" cy="137160"/>
          </a:xfrm>
          <a:prstGeom prst="flowChartDocument">
            <a:avLst/>
          </a:prstGeom>
          <a:solidFill>
            <a:srgbClr val="2A3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2779776"/>
            <a:ext cx="6766560" cy="713232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898648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2F4F6"/>
                </a:solidFill>
                <a:latin typeface="Arial"/>
              </a:rPr>
              <a:t>Next.js Frontend — App Router, React 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172968"/>
            <a:ext cx="6309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dashboard · identity · assets · access-control · audit · wallet</a:t>
            </a:r>
          </a:p>
        </p:txBody>
      </p:sp>
      <p:sp>
        <p:nvSpPr>
          <p:cNvPr id="13" name="Document 12"/>
          <p:cNvSpPr/>
          <p:nvPr/>
        </p:nvSpPr>
        <p:spPr>
          <a:xfrm>
            <a:off x="4069080" y="3502152"/>
            <a:ext cx="274320" cy="137160"/>
          </a:xfrm>
          <a:prstGeom prst="flowChartDocument">
            <a:avLst/>
          </a:prstGeom>
          <a:solidFill>
            <a:srgbClr val="2A3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639312"/>
            <a:ext cx="6766560" cy="713232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758184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2F4F6"/>
                </a:solidFill>
                <a:latin typeface="Arial"/>
              </a:rPr>
              <a:t>Context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032504"/>
            <a:ext cx="6309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Auth · Chain · Ledger · Storage</a:t>
            </a:r>
          </a:p>
        </p:txBody>
      </p:sp>
      <p:sp>
        <p:nvSpPr>
          <p:cNvPr id="17" name="Document 16"/>
          <p:cNvSpPr/>
          <p:nvPr/>
        </p:nvSpPr>
        <p:spPr>
          <a:xfrm>
            <a:off x="4069080" y="4361688"/>
            <a:ext cx="274320" cy="137160"/>
          </a:xfrm>
          <a:prstGeom prst="flowChartDocument">
            <a:avLst/>
          </a:prstGeom>
          <a:solidFill>
            <a:srgbClr val="2A3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4498848"/>
            <a:ext cx="6766560" cy="713232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617720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2F4F6"/>
                </a:solidFill>
                <a:latin typeface="Arial"/>
              </a:rPr>
              <a:t>Contract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92040"/>
            <a:ext cx="6309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AccessControl · IdentityRegistry · AssetNFT  —  revert on failure</a:t>
            </a:r>
          </a:p>
        </p:txBody>
      </p:sp>
      <p:sp>
        <p:nvSpPr>
          <p:cNvPr id="21" name="Document 20"/>
          <p:cNvSpPr/>
          <p:nvPr/>
        </p:nvSpPr>
        <p:spPr>
          <a:xfrm>
            <a:off x="4069080" y="5221224"/>
            <a:ext cx="274320" cy="137160"/>
          </a:xfrm>
          <a:prstGeom prst="flowChartDocument">
            <a:avLst/>
          </a:prstGeom>
          <a:solidFill>
            <a:srgbClr val="2A3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0" y="5358384"/>
            <a:ext cx="6766560" cy="713232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77256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2F4F6"/>
                </a:solidFill>
                <a:latin typeface="Arial"/>
              </a:rPr>
              <a:t>Blockchain 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751576"/>
            <a:ext cx="6309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DID derivation · SHA-256 hash chaining · append-only ledger + verifier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192024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20" y="21488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E3B5"/>
                </a:solidFill>
                <a:latin typeface="Arial"/>
              </a:rPr>
              <a:t>IPFS  ·  PINATA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487168"/>
            <a:ext cx="288036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DID Documents and NFT metadata pinned to real, content-addressed CIDs.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55279" y="3840480"/>
            <a:ext cx="3383280" cy="169164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40690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E3B5"/>
                </a:solidFill>
                <a:latin typeface="Arial"/>
              </a:rPr>
              <a:t>SOLANA DEVNET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407408"/>
            <a:ext cx="288036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Audit entries anchored as real signed memo transactions, linked to an explorer.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BlockLedger  ·  Team Mercury  ·  SIH 2026  ·  PS 26125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632764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E3B5"/>
                </a:solidFill>
                <a:latin typeface="Arial"/>
              </a:rPr>
              <a:t>CORE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2F4F6"/>
                </a:solidFill>
                <a:latin typeface="Arial"/>
              </a:rPr>
              <a:t>A log that proves it has not been edited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05840" cy="38100"/>
          </a:xfrm>
          <a:prstGeom prst="rect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E3B5"/>
                </a:solidFill>
                <a:latin typeface="Consolas"/>
              </a:rPr>
              <a:t>entry[n].hash  =  SHA-256(  entry[n].payload  ||  entry[n-1].hash  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606040"/>
            <a:ext cx="1691640" cy="105156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76148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AA4B0"/>
                </a:solidFill>
                <a:latin typeface="Arial"/>
              </a:rPr>
              <a:t>ENTRY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0358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2F4F6"/>
                </a:solidFill>
                <a:latin typeface="Consolas"/>
              </a:rPr>
              <a:t>0x9f3a1c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32888" y="3063240"/>
            <a:ext cx="347472" cy="128016"/>
          </a:xfrm>
          <a:prstGeom prst="rightArrow">
            <a:avLst/>
          </a:prstGeom>
          <a:solidFill>
            <a:srgbClr val="556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80360" y="2606040"/>
            <a:ext cx="1691640" cy="105156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81528" y="276148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AA4B0"/>
                </a:solidFill>
                <a:latin typeface="Arial"/>
              </a:rPr>
              <a:t>ENTRY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8" y="30358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2F4F6"/>
                </a:solidFill>
                <a:latin typeface="Consolas"/>
              </a:rPr>
              <a:t>0x4b8e07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590288" y="3063240"/>
            <a:ext cx="347472" cy="128016"/>
          </a:xfrm>
          <a:prstGeom prst="rightArrow">
            <a:avLst/>
          </a:prstGeom>
          <a:solidFill>
            <a:srgbClr val="556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37760" y="2606040"/>
            <a:ext cx="1691640" cy="105156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8928" y="276148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AA4B0"/>
                </a:solidFill>
                <a:latin typeface="Arial"/>
              </a:rPr>
              <a:t>ENTRY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8" y="30358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2F4F6"/>
                </a:solidFill>
                <a:latin typeface="Consolas"/>
              </a:rPr>
              <a:t>0xc21df5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647688" y="3063240"/>
            <a:ext cx="347472" cy="128016"/>
          </a:xfrm>
          <a:prstGeom prst="rightArrow">
            <a:avLst/>
          </a:prstGeom>
          <a:solidFill>
            <a:srgbClr val="556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995160" y="2606040"/>
            <a:ext cx="1691640" cy="105156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FF9F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6328" y="276148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9F45"/>
                </a:solidFill>
                <a:latin typeface="Arial"/>
              </a:rPr>
              <a:t>ENTRY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96328" y="30358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F45"/>
                </a:solidFill>
                <a:latin typeface="Consolas"/>
              </a:rPr>
              <a:t>TAMPERED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05088" y="3063240"/>
            <a:ext cx="347472" cy="128016"/>
          </a:xfrm>
          <a:prstGeom prst="rightArrow">
            <a:avLst/>
          </a:prstGeom>
          <a:solidFill>
            <a:srgbClr val="FF9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52560" y="2606040"/>
            <a:ext cx="1691640" cy="105156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3728" y="276148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9AA4B0"/>
                </a:solidFill>
                <a:latin typeface="Arial"/>
              </a:rPr>
              <a:t>ENTRY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30358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2F4F6"/>
                </a:solidFill>
                <a:latin typeface="Consolas"/>
              </a:rPr>
              <a:t>0x1e94d2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88620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9F45"/>
                </a:solidFill>
                <a:latin typeface="Consolas"/>
              </a:rPr>
              <a:t>verifyChain()  →  { valid: false, brokenAt: 3 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52628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2F4F6"/>
                </a:solidFill>
                <a:latin typeface="Arial"/>
              </a:rPr>
              <a:t>Four classes of tampering are detected, each reporting the exact broken index: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956048"/>
            <a:ext cx="2514600" cy="566928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12064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2F4F6"/>
                </a:solidFill>
                <a:latin typeface="Arial"/>
              </a:rPr>
              <a:t>Field mutation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20440" y="4956048"/>
            <a:ext cx="2514600" cy="566928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20440" y="512064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2F4F6"/>
                </a:solidFill>
                <a:latin typeface="Arial"/>
              </a:rPr>
              <a:t>Entry reordering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4956048"/>
            <a:ext cx="2514600" cy="566928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0" y="512064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2F4F6"/>
                </a:solidFill>
                <a:latin typeface="Arial"/>
              </a:rPr>
              <a:t>Entry deletion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15400" y="4956048"/>
            <a:ext cx="2514600" cy="566928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15400" y="512064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2F4F6"/>
                </a:solidFill>
                <a:latin typeface="Arial"/>
              </a:rPr>
              <a:t>Actor forgery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76072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All four are demonstrated live in the prototype.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BlockLedger  ·  Team Mercury  ·  SIH 2026  ·  PS 26125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720" y="632764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E3B5"/>
                </a:solidFill>
                <a:latin typeface="Arial"/>
              </a:rP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2F4F6"/>
                </a:solidFill>
                <a:latin typeface="Arial"/>
              </a:rPr>
              <a:t>What the prototype does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05840" cy="38100"/>
          </a:xfrm>
          <a:prstGeom prst="rect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3154680" cy="173736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286000"/>
            <a:ext cx="411480" cy="38100"/>
          </a:xfrm>
          <a:prstGeom prst="rect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6888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2F4F6"/>
                </a:solidFill>
                <a:latin typeface="Arial"/>
              </a:rPr>
              <a:t>Identity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3464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4B0"/>
                </a:solidFill>
                <a:latin typeface="Arial"/>
              </a:rPr>
              <a:t>Register, resolve, revoke and reactivate DIDs with W3C DID Documents pinned to IPFS.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98848" y="1965960"/>
            <a:ext cx="3154680" cy="173736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73168" y="2286000"/>
            <a:ext cx="411480" cy="38100"/>
          </a:xfrm>
          <a:prstGeom prst="rect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73168" y="246888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2F4F6"/>
                </a:solidFill>
                <a:latin typeface="Arial"/>
              </a:rPr>
              <a:t>Access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3168" y="283464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4B0"/>
                </a:solidFill>
                <a:latin typeface="Arial"/>
              </a:rPr>
              <a:t>Four roles mapped through an explicit permission matrix, enforced in UI and contract layer alike.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4736" y="1965960"/>
            <a:ext cx="3154680" cy="173736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49056" y="2286000"/>
            <a:ext cx="411480" cy="38100"/>
          </a:xfrm>
          <a:prstGeom prst="rect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49056" y="246888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2F4F6"/>
                </a:solidFill>
                <a:latin typeface="Arial"/>
              </a:rPr>
              <a:t>Real reverts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6" y="283464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4B0"/>
                </a:solidFill>
                <a:latin typeface="Arial"/>
              </a:rPr>
              <a:t>Unauthorised calls fail loudly with Solidity-style errors, surfaced directly to the user.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977639"/>
            <a:ext cx="3154680" cy="173736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80" y="4297679"/>
            <a:ext cx="411480" cy="38100"/>
          </a:xfrm>
          <a:prstGeom prst="rect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480559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2F4F6"/>
                </a:solidFill>
                <a:latin typeface="Arial"/>
              </a:rPr>
              <a:t>Digital assets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846319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4B0"/>
                </a:solidFill>
                <a:latin typeface="Arial"/>
              </a:rPr>
              <a:t>Mint DID-bound NFTs with content digests, IPFS metadata and full transfer history.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98848" y="3977639"/>
            <a:ext cx="3154680" cy="173736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73168" y="4297679"/>
            <a:ext cx="411480" cy="38100"/>
          </a:xfrm>
          <a:prstGeom prst="rect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480559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2F4F6"/>
                </a:solidFill>
                <a:latin typeface="Arial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73168" y="4846319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4B0"/>
                </a:solidFill>
                <a:latin typeface="Arial"/>
              </a:rPr>
              <a:t>Hash-chained, append-only log with one-click verification and export.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4736" y="3977639"/>
            <a:ext cx="3154680" cy="173736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49056" y="4297679"/>
            <a:ext cx="411480" cy="38100"/>
          </a:xfrm>
          <a:prstGeom prst="rect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49056" y="4480559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2F4F6"/>
                </a:solidFill>
                <a:latin typeface="Arial"/>
              </a:rPr>
              <a:t>On-chain anchor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49056" y="4846319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4B0"/>
                </a:solidFill>
                <a:latin typeface="Arial"/>
              </a:rPr>
              <a:t>Signed Solana devnet memo transactions, verifiable in a public block explorer.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BlockLedger  ·  Team Mercury  ·  SIH 2026  ·  PS 26125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632764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E3B5"/>
                </a:solidFill>
                <a:latin typeface="Arial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2F4F6"/>
                </a:solidFill>
                <a:latin typeface="Arial"/>
              </a:rPr>
              <a:t>Built on proven, open components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05840" cy="38100"/>
          </a:xfrm>
          <a:prstGeom prst="rect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3364992" cy="3749039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4028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E3B5"/>
                </a:solidFill>
                <a:latin typeface="Arial"/>
              </a:rPr>
              <a:t>FRONTEND</a:t>
            </a:r>
          </a:p>
        </p:txBody>
      </p:sp>
      <p:sp>
        <p:nvSpPr>
          <p:cNvPr id="8" name="Oval 7"/>
          <p:cNvSpPr/>
          <p:nvPr/>
        </p:nvSpPr>
        <p:spPr>
          <a:xfrm>
            <a:off x="1143000" y="2761488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9032" y="2697480"/>
            <a:ext cx="257860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Next.js 16 — App Router</a:t>
            </a:r>
          </a:p>
        </p:txBody>
      </p:sp>
      <p:sp>
        <p:nvSpPr>
          <p:cNvPr id="10" name="Oval 9"/>
          <p:cNvSpPr/>
          <p:nvPr/>
        </p:nvSpPr>
        <p:spPr>
          <a:xfrm>
            <a:off x="1143000" y="3200400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3136392"/>
            <a:ext cx="257860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React 19</a:t>
            </a:r>
          </a:p>
        </p:txBody>
      </p:sp>
      <p:sp>
        <p:nvSpPr>
          <p:cNvPr id="12" name="Oval 11"/>
          <p:cNvSpPr/>
          <p:nvPr/>
        </p:nvSpPr>
        <p:spPr>
          <a:xfrm>
            <a:off x="1143000" y="3639312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9032" y="3575304"/>
            <a:ext cx="257860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TypeScript</a:t>
            </a:r>
          </a:p>
        </p:txBody>
      </p:sp>
      <p:sp>
        <p:nvSpPr>
          <p:cNvPr id="14" name="Oval 13"/>
          <p:cNvSpPr/>
          <p:nvPr/>
        </p:nvSpPr>
        <p:spPr>
          <a:xfrm>
            <a:off x="1143000" y="4078224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99032" y="4014216"/>
            <a:ext cx="257860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Tailwind CSS v4</a:t>
            </a:r>
          </a:p>
        </p:txBody>
      </p:sp>
      <p:sp>
        <p:nvSpPr>
          <p:cNvPr id="16" name="Oval 15"/>
          <p:cNvSpPr/>
          <p:nvPr/>
        </p:nvSpPr>
        <p:spPr>
          <a:xfrm>
            <a:off x="1143000" y="4517136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9032" y="4453128"/>
            <a:ext cx="257860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shadcn/ui</a:t>
            </a:r>
          </a:p>
        </p:txBody>
      </p:sp>
      <p:sp>
        <p:nvSpPr>
          <p:cNvPr id="18" name="Oval 17"/>
          <p:cNvSpPr/>
          <p:nvPr/>
        </p:nvSpPr>
        <p:spPr>
          <a:xfrm>
            <a:off x="1143000" y="4956048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9032" y="4892040"/>
            <a:ext cx="257860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Framer Motion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1965960"/>
            <a:ext cx="3364992" cy="3749039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90872" y="224028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E3B5"/>
                </a:solidFill>
                <a:latin typeface="Arial"/>
              </a:rPr>
              <a:t>BLOCKCHAIN</a:t>
            </a:r>
          </a:p>
        </p:txBody>
      </p:sp>
      <p:sp>
        <p:nvSpPr>
          <p:cNvPr id="22" name="Oval 21"/>
          <p:cNvSpPr/>
          <p:nvPr/>
        </p:nvSpPr>
        <p:spPr>
          <a:xfrm>
            <a:off x="4690872" y="2761488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46904" y="2697480"/>
            <a:ext cx="257860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Solana — devnet</a:t>
            </a:r>
          </a:p>
        </p:txBody>
      </p:sp>
      <p:sp>
        <p:nvSpPr>
          <p:cNvPr id="24" name="Oval 23"/>
          <p:cNvSpPr/>
          <p:nvPr/>
        </p:nvSpPr>
        <p:spPr>
          <a:xfrm>
            <a:off x="4690872" y="3200400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46904" y="3136392"/>
            <a:ext cx="257860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@solana/web3.js</a:t>
            </a:r>
          </a:p>
        </p:txBody>
      </p:sp>
      <p:sp>
        <p:nvSpPr>
          <p:cNvPr id="26" name="Oval 25"/>
          <p:cNvSpPr/>
          <p:nvPr/>
        </p:nvSpPr>
        <p:spPr>
          <a:xfrm>
            <a:off x="4690872" y="3639312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46904" y="3575304"/>
            <a:ext cx="257860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Wallet Adapter</a:t>
            </a:r>
          </a:p>
        </p:txBody>
      </p:sp>
      <p:sp>
        <p:nvSpPr>
          <p:cNvPr id="28" name="Oval 27"/>
          <p:cNvSpPr/>
          <p:nvPr/>
        </p:nvSpPr>
        <p:spPr>
          <a:xfrm>
            <a:off x="4690872" y="4078224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46904" y="4014216"/>
            <a:ext cx="257860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W3C DID</a:t>
            </a:r>
          </a:p>
        </p:txBody>
      </p:sp>
      <p:sp>
        <p:nvSpPr>
          <p:cNvPr id="30" name="Oval 29"/>
          <p:cNvSpPr/>
          <p:nvPr/>
        </p:nvSpPr>
        <p:spPr>
          <a:xfrm>
            <a:off x="4690872" y="4517136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46904" y="4453128"/>
            <a:ext cx="257860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SHA-256 hash chaining</a:t>
            </a:r>
          </a:p>
        </p:txBody>
      </p:sp>
      <p:sp>
        <p:nvSpPr>
          <p:cNvPr id="32" name="Oval 31"/>
          <p:cNvSpPr/>
          <p:nvPr/>
        </p:nvSpPr>
        <p:spPr>
          <a:xfrm>
            <a:off x="4690872" y="4956048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46904" y="4892040"/>
            <a:ext cx="257860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Web Crypto API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18704" y="1965960"/>
            <a:ext cx="3364992" cy="3749039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38744" y="224028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E3B5"/>
                </a:solidFill>
                <a:latin typeface="Arial"/>
              </a:rPr>
              <a:t>STORAGE &amp; DEPLOY</a:t>
            </a:r>
          </a:p>
        </p:txBody>
      </p:sp>
      <p:sp>
        <p:nvSpPr>
          <p:cNvPr id="36" name="Oval 35"/>
          <p:cNvSpPr/>
          <p:nvPr/>
        </p:nvSpPr>
        <p:spPr>
          <a:xfrm>
            <a:off x="8238744" y="2761488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94776" y="2697480"/>
            <a:ext cx="257860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IPFS</a:t>
            </a:r>
          </a:p>
        </p:txBody>
      </p:sp>
      <p:sp>
        <p:nvSpPr>
          <p:cNvPr id="38" name="Oval 37"/>
          <p:cNvSpPr/>
          <p:nvPr/>
        </p:nvSpPr>
        <p:spPr>
          <a:xfrm>
            <a:off x="8238744" y="3200400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94776" y="3136392"/>
            <a:ext cx="257860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Pinata pinning</a:t>
            </a:r>
          </a:p>
        </p:txBody>
      </p:sp>
      <p:sp>
        <p:nvSpPr>
          <p:cNvPr id="40" name="Oval 39"/>
          <p:cNvSpPr/>
          <p:nvPr/>
        </p:nvSpPr>
        <p:spPr>
          <a:xfrm>
            <a:off x="8238744" y="3639312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94776" y="3575304"/>
            <a:ext cx="257860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Content-addressed CIDs</a:t>
            </a:r>
          </a:p>
        </p:txBody>
      </p:sp>
      <p:sp>
        <p:nvSpPr>
          <p:cNvPr id="42" name="Oval 41"/>
          <p:cNvSpPr/>
          <p:nvPr/>
        </p:nvSpPr>
        <p:spPr>
          <a:xfrm>
            <a:off x="8238744" y="4078224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94776" y="4014216"/>
            <a:ext cx="257860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Vercel</a:t>
            </a:r>
          </a:p>
        </p:txBody>
      </p:sp>
      <p:sp>
        <p:nvSpPr>
          <p:cNvPr id="44" name="Oval 43"/>
          <p:cNvSpPr/>
          <p:nvPr/>
        </p:nvSpPr>
        <p:spPr>
          <a:xfrm>
            <a:off x="8238744" y="4517136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94776" y="4453128"/>
            <a:ext cx="257860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npm</a:t>
            </a:r>
          </a:p>
        </p:txBody>
      </p:sp>
      <p:sp>
        <p:nvSpPr>
          <p:cNvPr id="46" name="Oval 45"/>
          <p:cNvSpPr/>
          <p:nvPr/>
        </p:nvSpPr>
        <p:spPr>
          <a:xfrm>
            <a:off x="8238744" y="4956048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94776" y="4892040"/>
            <a:ext cx="257860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Zero contract deployment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BlockLedger  ·  Team Mercury  ·  SIH 2026  ·  PS 26125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632764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E3B5"/>
                </a:solidFill>
                <a:latin typeface="Arial"/>
              </a:rPr>
              <a:t>SCOPE AND HONESTY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2F4F6"/>
                </a:solidFill>
                <a:latin typeface="Arial"/>
              </a:rPr>
              <a:t>What is real, and what is simulated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05840" cy="38100"/>
          </a:xfrm>
          <a:prstGeom prst="rect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4B0"/>
                </a:solidFill>
                <a:latin typeface="Arial"/>
              </a:rPr>
              <a:t>We state this explicitly rather than overclaim. Nothing in the demo is fabricated.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5120640" cy="320040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E3B5"/>
                </a:solidFill>
                <a:latin typeface="Arial"/>
              </a:rPr>
              <a:t>REAL</a:t>
            </a:r>
          </a:p>
        </p:txBody>
      </p:sp>
      <p:sp>
        <p:nvSpPr>
          <p:cNvPr id="9" name="Oval 8"/>
          <p:cNvSpPr/>
          <p:nvPr/>
        </p:nvSpPr>
        <p:spPr>
          <a:xfrm>
            <a:off x="1143000" y="3172968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3108960"/>
            <a:ext cx="43159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Solana devnet wallet connection</a:t>
            </a:r>
          </a:p>
        </p:txBody>
      </p:sp>
      <p:sp>
        <p:nvSpPr>
          <p:cNvPr id="11" name="Oval 10"/>
          <p:cNvSpPr/>
          <p:nvPr/>
        </p:nvSpPr>
        <p:spPr>
          <a:xfrm>
            <a:off x="1143000" y="3630168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3566160"/>
            <a:ext cx="43159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Signed memo transactions anchoring audit entries</a:t>
            </a:r>
          </a:p>
        </p:txBody>
      </p:sp>
      <p:sp>
        <p:nvSpPr>
          <p:cNvPr id="13" name="Oval 12"/>
          <p:cNvSpPr/>
          <p:nvPr/>
        </p:nvSpPr>
        <p:spPr>
          <a:xfrm>
            <a:off x="1143000" y="4087368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9032" y="4023360"/>
            <a:ext cx="43159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IPFS pinning via Pinata — genuine CIDs</a:t>
            </a:r>
          </a:p>
        </p:txBody>
      </p:sp>
      <p:sp>
        <p:nvSpPr>
          <p:cNvPr id="15" name="Oval 14"/>
          <p:cNvSpPr/>
          <p:nvPr/>
        </p:nvSpPr>
        <p:spPr>
          <a:xfrm>
            <a:off x="1143000" y="4544568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9032" y="4480560"/>
            <a:ext cx="43159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DID derivation and W3C DID Documents</a:t>
            </a:r>
          </a:p>
        </p:txBody>
      </p:sp>
      <p:sp>
        <p:nvSpPr>
          <p:cNvPr id="17" name="Oval 16"/>
          <p:cNvSpPr/>
          <p:nvPr/>
        </p:nvSpPr>
        <p:spPr>
          <a:xfrm>
            <a:off x="1143000" y="5001768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9032" y="4937760"/>
            <a:ext cx="43159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Hash chaining and chain verification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377440"/>
            <a:ext cx="5120640" cy="320040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517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9F45"/>
                </a:solidFill>
                <a:latin typeface="Arial"/>
              </a:rPr>
              <a:t>SIMULATED</a:t>
            </a:r>
          </a:p>
        </p:txBody>
      </p:sp>
      <p:sp>
        <p:nvSpPr>
          <p:cNvPr id="21" name="Oval 20"/>
          <p:cNvSpPr/>
          <p:nvPr/>
        </p:nvSpPr>
        <p:spPr>
          <a:xfrm>
            <a:off x="6537960" y="3172968"/>
            <a:ext cx="100584" cy="100584"/>
          </a:xfrm>
          <a:prstGeom prst="ellipse">
            <a:avLst/>
          </a:prstGeom>
          <a:solidFill>
            <a:srgbClr val="FF9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3992" y="3108960"/>
            <a:ext cx="43159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Contract layer written in TypeScript, not deployed</a:t>
            </a:r>
          </a:p>
        </p:txBody>
      </p:sp>
      <p:sp>
        <p:nvSpPr>
          <p:cNvPr id="23" name="Oval 22"/>
          <p:cNvSpPr/>
          <p:nvPr/>
        </p:nvSpPr>
        <p:spPr>
          <a:xfrm>
            <a:off x="6537960" y="3739896"/>
            <a:ext cx="100584" cy="100584"/>
          </a:xfrm>
          <a:prstGeom prst="ellipse">
            <a:avLst/>
          </a:prstGeom>
          <a:solidFill>
            <a:srgbClr val="FF9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3992" y="3675888"/>
            <a:ext cx="43159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Enforcement logic and error semantics mirror an on-chain program</a:t>
            </a:r>
          </a:p>
        </p:txBody>
      </p:sp>
      <p:sp>
        <p:nvSpPr>
          <p:cNvPr id="25" name="Oval 24"/>
          <p:cNvSpPr/>
          <p:nvPr/>
        </p:nvSpPr>
        <p:spPr>
          <a:xfrm>
            <a:off x="6537960" y="4306824"/>
            <a:ext cx="100584" cy="100584"/>
          </a:xfrm>
          <a:prstGeom prst="ellipse">
            <a:avLst/>
          </a:prstGeom>
          <a:solidFill>
            <a:srgbClr val="FF9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3992" y="4242816"/>
            <a:ext cx="43159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Demo authentication uses seeded credentials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4873752"/>
            <a:ext cx="100584" cy="100584"/>
          </a:xfrm>
          <a:prstGeom prst="ellipse">
            <a:avLst/>
          </a:prstGeom>
          <a:solidFill>
            <a:srgbClr val="FF9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93992" y="4809744"/>
            <a:ext cx="43159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Chosen so the prototype runs with zero deployment cost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76072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2F4F6"/>
                </a:solidFill>
                <a:latin typeface="Arial"/>
              </a:rPr>
              <a:t>Every record carries anchorMode: "onchain" | "simulated" and is badged truthfully in the UI. No signature or CID is ever fabricated.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BlockLedger  ·  Team Mercury  ·  SIH 2026  ·  PS 26125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632764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E3B5"/>
                </a:solidFill>
                <a:latin typeface="Arial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2F4F6"/>
                </a:solidFill>
                <a:latin typeface="Arial"/>
              </a:rPr>
              <a:t>Five steps a reviewer can reproduce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05840" cy="38100"/>
          </a:xfrm>
          <a:prstGeom prst="rect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10515600" cy="749808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157984"/>
            <a:ext cx="365760" cy="365760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B0D1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1226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2F4F6"/>
                </a:solidFill>
                <a:latin typeface="Arial"/>
              </a:rPr>
              <a:t>ADMIN registers an identity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214884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/identity — a DID is issued and its DID Document is pinned to IPFS.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834640"/>
            <a:ext cx="10515600" cy="749808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" y="3026664"/>
            <a:ext cx="365760" cy="365760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B0D10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98094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2F4F6"/>
                </a:solidFill>
                <a:latin typeface="Arial"/>
              </a:rPr>
              <a:t>MANAGER mints a digital asset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301752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/assets — metadata pinned, token bound to an owner DID, digest recorded.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03320"/>
            <a:ext cx="10515600" cy="749808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3895344"/>
            <a:ext cx="365760" cy="365760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B0D10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84962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2F4F6"/>
                </a:solidFill>
                <a:latin typeface="Arial"/>
              </a:rPr>
              <a:t>AUDITOR is denied a role grant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388620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/access-control — a real contract revert is raised and surfaced.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572000"/>
            <a:ext cx="10515600" cy="749808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7280" y="4764024"/>
            <a:ext cx="365760" cy="365760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B0D10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71830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2F4F6"/>
                </a:solidFill>
                <a:latin typeface="Arial"/>
              </a:rPr>
              <a:t>Chain is verified, then tampered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475488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/audit — the verifier reports the exact index at which the chain breaks.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440680"/>
            <a:ext cx="10515600" cy="749808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7280" y="5632704"/>
            <a:ext cx="365760" cy="365760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B0D10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58698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2F4F6"/>
                </a:solidFill>
                <a:latin typeface="Arial"/>
              </a:rPr>
              <a:t>Entry is anchored on-chain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562356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4B0"/>
                </a:solidFill>
                <a:latin typeface="Arial"/>
              </a:rPr>
              <a:t>/wallet — a signed devnet memo transaction, viewable in a block explorer.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BlockLedger  ·  Team Mercury  ·  SIH 2026  ·  PS 26125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632764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E3B5"/>
                </a:solidFill>
                <a:latin typeface="Arial"/>
              </a:rPr>
              <a:t>IMPACT AND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2F4F6"/>
                </a:solidFill>
                <a:latin typeface="Arial"/>
              </a:rPr>
              <a:t>From prototype to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05840" cy="38100"/>
          </a:xfrm>
          <a:prstGeom prst="rect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E3B5"/>
                </a:solidFill>
                <a:latin typeface="Arial"/>
              </a:rPr>
              <a:t>IMPACT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395728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331720"/>
            <a:ext cx="47731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Removes the administrator as a single point of trust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926080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862072"/>
            <a:ext cx="47731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Gives auditors mathematical proof of log integrity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456432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392424"/>
            <a:ext cx="47731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Makes asset provenance verifiable by any party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986784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922776"/>
            <a:ext cx="47731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Portable identity that survives directory migration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517136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453128"/>
            <a:ext cx="47731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Independent verification without vendor cooperation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874519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E3B5"/>
                </a:solidFill>
                <a:latin typeface="Arial"/>
              </a:rPr>
              <a:t>FUTURE SCOPE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2395728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331720"/>
            <a:ext cx="47731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Deploy the contract layer as Solana programs via Anchor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0" y="2898648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834640"/>
            <a:ext cx="47731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Wallet-native, signature-based authentication</a:t>
            </a:r>
          </a:p>
        </p:txBody>
      </p:sp>
      <p:sp>
        <p:nvSpPr>
          <p:cNvPr id="22" name="Oval 21"/>
          <p:cNvSpPr/>
          <p:nvPr/>
        </p:nvSpPr>
        <p:spPr>
          <a:xfrm>
            <a:off x="6217920" y="3401568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337560"/>
            <a:ext cx="47731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Verifiable Credentials for cross-organisation attestation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0" y="3904488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3840480"/>
            <a:ext cx="47731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Hardware wallet and HSM-backed keys for ADMIN accounts</a:t>
            </a:r>
          </a:p>
        </p:txBody>
      </p:sp>
      <p:sp>
        <p:nvSpPr>
          <p:cNvPr id="26" name="Oval 25"/>
          <p:cNvSpPr/>
          <p:nvPr/>
        </p:nvSpPr>
        <p:spPr>
          <a:xfrm>
            <a:off x="6217920" y="4407408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343400"/>
            <a:ext cx="47731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Merkle-root batch anchoring to cut cost at scale</a:t>
            </a:r>
          </a:p>
        </p:txBody>
      </p:sp>
      <p:sp>
        <p:nvSpPr>
          <p:cNvPr id="28" name="Oval 27"/>
          <p:cNvSpPr/>
          <p:nvPr/>
        </p:nvSpPr>
        <p:spPr>
          <a:xfrm>
            <a:off x="6217920" y="4910328"/>
            <a:ext cx="100584" cy="100584"/>
          </a:xfrm>
          <a:prstGeom prst="ellipse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846320"/>
            <a:ext cx="47731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4B0"/>
                </a:solidFill>
                <a:latin typeface="Arial"/>
              </a:rPr>
              <a:t>Phased LDAP / Active Directory integration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BlockLedger  ·  Team Mercury  ·  SIH 2026  ·  PS 26125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632764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AA4B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94560"/>
            <a:ext cx="1463040" cy="38100"/>
          </a:xfrm>
          <a:prstGeom prst="rect">
            <a:avLst/>
          </a:prstGeom>
          <a:solidFill>
            <a:srgbClr val="4AE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2F4F6"/>
                </a:solidFill>
                <a:latin typeface="Arial"/>
              </a:rPr>
              <a:t>BlockLedger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9AA4B0"/>
                </a:solidFill>
                <a:latin typeface="Arial"/>
              </a:rPr>
              <a:t>Identity you own. Access you can prove. Assets you can trace.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297680"/>
            <a:ext cx="10515600" cy="123444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 w="12700">
            <a:solidFill>
              <a:srgbClr val="2A3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4553712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E3B5"/>
                </a:solidFill>
                <a:latin typeface="Arial"/>
              </a:rPr>
              <a:t>TEAM MERCURY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864608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2F4F6"/>
                </a:solidFill>
                <a:latin typeface="Arial"/>
              </a:rPr>
              <a:t>Harsh (Team Leader)  ·  Anushka  ·  Sanyyam  ·  Prakhar  ·  Zoya  ·  Shauryan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17550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AA4B0"/>
                </a:solidFill>
                <a:latin typeface="Arial"/>
              </a:rPr>
              <a:t>Netaji Subhas University of Technology  ·  SIH 2026  ·  PS 26125  ·  Bharat Electronics Limited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E3B5"/>
                </a:solidFill>
                <a:latin typeface="Arial"/>
              </a:rPr>
              <a:t>github.com/hxrshxz/BlockLedger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